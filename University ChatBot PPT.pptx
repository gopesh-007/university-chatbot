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67" r:id="rId17"/>
    <p:sldId id="268"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drKMfCrPaIm/j6aVRxwY0pw04f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pesh Rabadiya" initials="GR" lastIdx="1" clrIdx="0">
    <p:extLst>
      <p:ext uri="{19B8F6BF-5375-455C-9EA6-DF929625EA0E}">
        <p15:presenceInfo xmlns:p15="http://schemas.microsoft.com/office/powerpoint/2012/main" userId="966e0d7e9944fc7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18"/>
        <p:cNvGrpSpPr/>
        <p:nvPr/>
      </p:nvGrpSpPr>
      <p:grpSpPr>
        <a:xfrm>
          <a:off x="0" y="0"/>
          <a:ext cx="0" cy="0"/>
          <a:chOff x="0" y="0"/>
          <a:chExt cx="0" cy="0"/>
        </a:xfrm>
      </p:grpSpPr>
      <p:sp>
        <p:nvSpPr>
          <p:cNvPr id="19" name="Google Shape;19;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23" name="Google Shape;23;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26" name="Google Shape;26;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3"/>
        <p:cNvGrpSpPr/>
        <p:nvPr/>
      </p:nvGrpSpPr>
      <p:grpSpPr>
        <a:xfrm>
          <a:off x="0" y="0"/>
          <a:ext cx="0" cy="0"/>
          <a:chOff x="0" y="0"/>
          <a:chExt cx="0" cy="0"/>
        </a:xfrm>
      </p:grpSpPr>
      <p:sp>
        <p:nvSpPr>
          <p:cNvPr id="34" name="Google Shape;34;p1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7"/>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38" name="Google Shape;38;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41" name="Google Shape;41;p1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8"/>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5" name="Google Shape;45;p1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6" name="Google Shape;46;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2" name="Google Shape;52;p19"/>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3" name="Google Shape;53;p1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19"/>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2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22"/>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2"/>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2"/>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22"/>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22"/>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22"/>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3"/>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3"/>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3"/>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3"/>
          <p:cNvSpPr>
            <a:spLocks noGrp="1"/>
          </p:cNvSpPr>
          <p:nvPr>
            <p:ph type="pic" idx="2"/>
          </p:nvPr>
        </p:nvSpPr>
        <p:spPr>
          <a:xfrm>
            <a:off x="15" y="0"/>
            <a:ext cx="12191985" cy="4915076"/>
          </a:xfrm>
          <a:prstGeom prst="rect">
            <a:avLst/>
          </a:prstGeom>
          <a:solidFill>
            <a:srgbClr val="D7D0C0"/>
          </a:solidFill>
          <a:ln>
            <a:noFill/>
          </a:ln>
        </p:spPr>
      </p:sp>
      <p:sp>
        <p:nvSpPr>
          <p:cNvPr id="83" name="Google Shape;83;p23"/>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4"/>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5"/>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4"/>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cxnSp>
        <p:nvCxnSpPr>
          <p:cNvPr id="17" name="Google Shape;17;p14"/>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p:nvPr/>
        </p:nvSpPr>
        <p:spPr>
          <a:xfrm>
            <a:off x="0" y="116769"/>
            <a:ext cx="12192000" cy="21852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3200" b="1"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4000" b="1" i="0" u="none" strike="noStrike" cap="none">
                <a:solidFill>
                  <a:srgbClr val="002060"/>
                </a:solidFill>
                <a:latin typeface="Times New Roman"/>
                <a:ea typeface="Times New Roman"/>
                <a:cs typeface="Times New Roman"/>
                <a:sym typeface="Times New Roman"/>
              </a:rPr>
              <a:t>Gujarat Technological University</a:t>
            </a:r>
            <a:endParaRPr/>
          </a:p>
          <a:p>
            <a:pPr marL="0" marR="0" lvl="0" indent="0" algn="ctr" rtl="0">
              <a:spcBef>
                <a:spcPts val="0"/>
              </a:spcBef>
              <a:spcAft>
                <a:spcPts val="0"/>
              </a:spcAft>
              <a:buNone/>
            </a:pPr>
            <a:endParaRPr sz="3200" b="1"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3200" b="1" i="0" u="none" strike="noStrike" cap="none">
                <a:solidFill>
                  <a:srgbClr val="1F497D"/>
                </a:solidFill>
                <a:latin typeface="Times New Roman"/>
                <a:ea typeface="Times New Roman"/>
                <a:cs typeface="Times New Roman"/>
                <a:sym typeface="Times New Roman"/>
              </a:rPr>
              <a:t>NEW L. J. INSTITUTE OF ENGINEERING AND TECHNOLOGY</a:t>
            </a:r>
            <a:endParaRPr sz="3200" b="0" i="0" u="none" strike="noStrike" cap="none">
              <a:solidFill>
                <a:schemeClr val="dk1"/>
              </a:solidFill>
              <a:latin typeface="Times New Roman"/>
              <a:ea typeface="Times New Roman"/>
              <a:cs typeface="Times New Roman"/>
              <a:sym typeface="Times New Roman"/>
            </a:endParaRPr>
          </a:p>
        </p:txBody>
      </p:sp>
      <p:sp>
        <p:nvSpPr>
          <p:cNvPr id="106" name="Google Shape;106;p1"/>
          <p:cNvSpPr/>
          <p:nvPr/>
        </p:nvSpPr>
        <p:spPr>
          <a:xfrm>
            <a:off x="1137920" y="3584452"/>
            <a:ext cx="9938198"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4400" b="1" i="0" u="none" strike="noStrike" cap="none" dirty="0">
                <a:solidFill>
                  <a:srgbClr val="002060"/>
                </a:solidFill>
                <a:latin typeface="Times New Roman"/>
                <a:cs typeface="Times New Roman"/>
                <a:sym typeface="Times New Roman"/>
              </a:rPr>
              <a:t>U</a:t>
            </a:r>
            <a:r>
              <a:rPr lang="en-IN" sz="4400" b="1" i="0" u="none" strike="noStrike" cap="none" dirty="0" err="1">
                <a:solidFill>
                  <a:srgbClr val="002060"/>
                </a:solidFill>
                <a:latin typeface="Times New Roman"/>
                <a:cs typeface="Times New Roman"/>
                <a:sym typeface="Times New Roman"/>
              </a:rPr>
              <a:t>niversity</a:t>
            </a:r>
            <a:r>
              <a:rPr lang="en-IN" sz="4400" b="1" i="0" u="none" strike="noStrike" cap="none" dirty="0">
                <a:solidFill>
                  <a:srgbClr val="002060"/>
                </a:solidFill>
                <a:latin typeface="Times New Roman"/>
                <a:cs typeface="Times New Roman"/>
                <a:sym typeface="Times New Roman"/>
              </a:rPr>
              <a:t> </a:t>
            </a:r>
            <a:r>
              <a:rPr lang="en-IN" sz="4400" b="1" i="0" u="none" strike="noStrike" cap="none" dirty="0" err="1">
                <a:solidFill>
                  <a:srgbClr val="002060"/>
                </a:solidFill>
                <a:latin typeface="Times New Roman"/>
                <a:cs typeface="Times New Roman"/>
                <a:sym typeface="Times New Roman"/>
              </a:rPr>
              <a:t>ChatBot</a:t>
            </a:r>
            <a:endParaRPr sz="4400" b="0" i="0" u="none" strike="noStrike" cap="none" dirty="0">
              <a:solidFill>
                <a:srgbClr val="002060"/>
              </a:solidFill>
              <a:latin typeface="Arial"/>
              <a:ea typeface="Arial"/>
              <a:cs typeface="Arial"/>
              <a:sym typeface="Arial"/>
            </a:endParaRPr>
          </a:p>
        </p:txBody>
      </p:sp>
      <p:sp>
        <p:nvSpPr>
          <p:cNvPr id="107" name="Google Shape;107;p1"/>
          <p:cNvSpPr/>
          <p:nvPr/>
        </p:nvSpPr>
        <p:spPr>
          <a:xfrm>
            <a:off x="13023" y="5253700"/>
            <a:ext cx="3825025" cy="923289"/>
          </a:xfrm>
          <a:prstGeom prst="rect">
            <a:avLst/>
          </a:prstGeom>
          <a:noFill/>
          <a:ln>
            <a:noFill/>
          </a:ln>
        </p:spPr>
        <p:txBody>
          <a:bodyPr spcFirstLastPara="1" wrap="square" lIns="91425" tIns="45700" rIns="91425" bIns="45700" anchor="t" anchorCtr="0">
            <a:spAutoFit/>
          </a:bodyPr>
          <a:lstStyle/>
          <a:p>
            <a:r>
              <a:rPr lang="en-GB" sz="1800" b="1" dirty="0">
                <a:solidFill>
                  <a:srgbClr val="0070C0"/>
                </a:solidFill>
                <a:effectLst/>
                <a:latin typeface="Times New Roman" panose="02020603050405020304" pitchFamily="18" charset="0"/>
              </a:rPr>
              <a:t>HOD NAME: Dr Gayatri Pandi </a:t>
            </a:r>
            <a:endParaRPr lang="en-GB" sz="2800" dirty="0">
              <a:effectLst/>
            </a:endParaRPr>
          </a:p>
          <a:p>
            <a:r>
              <a:rPr lang="en-GB" sz="1800" b="1" dirty="0">
                <a:solidFill>
                  <a:srgbClr val="0070C0"/>
                </a:solidFill>
                <a:effectLst/>
                <a:latin typeface="Times New Roman" panose="02020603050405020304" pitchFamily="18" charset="0"/>
              </a:rPr>
              <a:t>IT, </a:t>
            </a:r>
            <a:endParaRPr lang="en-GB" sz="2800" dirty="0">
              <a:effectLst/>
            </a:endParaRPr>
          </a:p>
          <a:p>
            <a:r>
              <a:rPr lang="en-GB" sz="1800" b="1" dirty="0">
                <a:solidFill>
                  <a:srgbClr val="0070C0"/>
                </a:solidFill>
                <a:effectLst/>
                <a:latin typeface="Times New Roman" panose="02020603050405020304" pitchFamily="18" charset="0"/>
              </a:rPr>
              <a:t>NEW LJIET.</a:t>
            </a:r>
            <a:endParaRPr lang="en-GB" sz="2800" dirty="0">
              <a:effectLst/>
            </a:endParaRPr>
          </a:p>
        </p:txBody>
      </p:sp>
      <p:sp>
        <p:nvSpPr>
          <p:cNvPr id="108" name="Google Shape;108;p1"/>
          <p:cNvSpPr/>
          <p:nvPr/>
        </p:nvSpPr>
        <p:spPr>
          <a:xfrm>
            <a:off x="2" y="6424720"/>
            <a:ext cx="12191998"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dirty="0">
                <a:solidFill>
                  <a:schemeClr val="lt1"/>
                </a:solidFill>
                <a:latin typeface="Times New Roman"/>
                <a:ea typeface="Times New Roman"/>
                <a:cs typeface="Times New Roman"/>
                <a:sym typeface="Times New Roman"/>
              </a:rPr>
              <a:t>SEMESTER: 8</a:t>
            </a:r>
            <a:r>
              <a:rPr lang="en-IN" sz="1800" b="1" baseline="30000" dirty="0">
                <a:solidFill>
                  <a:schemeClr val="lt1"/>
                </a:solidFill>
                <a:latin typeface="Times New Roman"/>
                <a:ea typeface="Times New Roman"/>
                <a:cs typeface="Times New Roman"/>
                <a:sym typeface="Times New Roman"/>
              </a:rPr>
              <a:t>th</a:t>
            </a:r>
            <a:r>
              <a:rPr lang="en-IN" sz="1800" b="1" dirty="0">
                <a:solidFill>
                  <a:schemeClr val="lt1"/>
                </a:solidFill>
                <a:latin typeface="Times New Roman"/>
                <a:ea typeface="Times New Roman"/>
                <a:cs typeface="Times New Roman"/>
                <a:sym typeface="Times New Roman"/>
              </a:rPr>
              <a:t>                                                 			DEPARTMENT OF INFORMATION TECHNOLOGY </a:t>
            </a:r>
            <a:endParaRPr dirty="0"/>
          </a:p>
        </p:txBody>
      </p:sp>
      <p:sp>
        <p:nvSpPr>
          <p:cNvPr id="109" name="Google Shape;109;p1"/>
          <p:cNvSpPr txBox="1"/>
          <p:nvPr/>
        </p:nvSpPr>
        <p:spPr>
          <a:xfrm>
            <a:off x="3" y="2274369"/>
            <a:ext cx="121920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chemeClr val="accent1"/>
                </a:solidFill>
                <a:latin typeface="Times New Roman"/>
                <a:ea typeface="Times New Roman"/>
                <a:cs typeface="Times New Roman"/>
                <a:sym typeface="Times New Roman"/>
              </a:rPr>
              <a:t>DEPARTMENT OF IT  </a:t>
            </a:r>
            <a:endParaRPr dirty="0"/>
          </a:p>
        </p:txBody>
      </p:sp>
      <p:sp>
        <p:nvSpPr>
          <p:cNvPr id="110" name="Google Shape;110;p1"/>
          <p:cNvSpPr txBox="1"/>
          <p:nvPr/>
        </p:nvSpPr>
        <p:spPr>
          <a:xfrm>
            <a:off x="13023" y="2755373"/>
            <a:ext cx="12191996"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000" b="1">
                <a:solidFill>
                  <a:srgbClr val="7030A0"/>
                </a:solidFill>
                <a:latin typeface="Times New Roman"/>
                <a:ea typeface="Times New Roman"/>
                <a:cs typeface="Times New Roman"/>
                <a:sym typeface="Times New Roman"/>
              </a:rPr>
              <a:t>ACADEMIC YEAR – 2025</a:t>
            </a:r>
            <a:endParaRPr/>
          </a:p>
        </p:txBody>
      </p:sp>
      <p:sp>
        <p:nvSpPr>
          <p:cNvPr id="111" name="Google Shape;111;p1"/>
          <p:cNvSpPr txBox="1"/>
          <p:nvPr/>
        </p:nvSpPr>
        <p:spPr>
          <a:xfrm>
            <a:off x="13011" y="3213879"/>
            <a:ext cx="1219200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000" b="1">
                <a:solidFill>
                  <a:schemeClr val="dk1"/>
                </a:solidFill>
                <a:latin typeface="Times New Roman"/>
                <a:ea typeface="Times New Roman"/>
                <a:cs typeface="Times New Roman"/>
                <a:sym typeface="Times New Roman"/>
              </a:rPr>
              <a:t>Internship  (3184201)</a:t>
            </a:r>
            <a:endParaRPr/>
          </a:p>
        </p:txBody>
      </p:sp>
      <p:sp>
        <p:nvSpPr>
          <p:cNvPr id="112" name="Google Shape;112;p1"/>
          <p:cNvSpPr/>
          <p:nvPr/>
        </p:nvSpPr>
        <p:spPr>
          <a:xfrm>
            <a:off x="8214577" y="4338776"/>
            <a:ext cx="3825025" cy="2215951"/>
          </a:xfrm>
          <a:prstGeom prst="rect">
            <a:avLst/>
          </a:prstGeom>
          <a:noFill/>
          <a:ln>
            <a:noFill/>
          </a:ln>
        </p:spPr>
        <p:txBody>
          <a:bodyPr spcFirstLastPara="1" wrap="square" lIns="91425" tIns="45700" rIns="91425" bIns="45700" anchor="t" anchorCtr="0">
            <a:spAutoFit/>
          </a:bodyPr>
          <a:lstStyle/>
          <a:p>
            <a:r>
              <a:rPr lang="en-GB" sz="1800" b="1" dirty="0">
                <a:solidFill>
                  <a:srgbClr val="0070C0"/>
                </a:solidFill>
                <a:effectLst/>
                <a:latin typeface="Times New Roman" panose="02020603050405020304" pitchFamily="18" charset="0"/>
              </a:rPr>
              <a:t>PREPARED BY,</a:t>
            </a:r>
            <a:endParaRPr lang="en-GB" sz="2800" dirty="0">
              <a:effectLst/>
            </a:endParaRPr>
          </a:p>
          <a:p>
            <a:r>
              <a:rPr lang="en-GB" sz="2800" dirty="0">
                <a:effectLst/>
              </a:rPr>
              <a:t> </a:t>
            </a:r>
          </a:p>
          <a:p>
            <a:r>
              <a:rPr lang="en-GB" sz="1800" b="1" dirty="0">
                <a:solidFill>
                  <a:srgbClr val="0070C0"/>
                </a:solidFill>
                <a:effectLst/>
                <a:latin typeface="Times New Roman" panose="02020603050405020304" pitchFamily="18" charset="0"/>
              </a:rPr>
              <a:t>GOPESHKUMAR HARSUKH RABADIYA</a:t>
            </a:r>
            <a:endParaRPr lang="en-GB" sz="2800" dirty="0">
              <a:effectLst/>
            </a:endParaRPr>
          </a:p>
          <a:p>
            <a:r>
              <a:rPr lang="en-GB" sz="1800" b="1" dirty="0">
                <a:solidFill>
                  <a:srgbClr val="0070C0"/>
                </a:solidFill>
                <a:effectLst/>
                <a:latin typeface="Times New Roman" panose="02020603050405020304" pitchFamily="18" charset="0"/>
              </a:rPr>
              <a:t>ENROLLMENT NUMBER:211430116017</a:t>
            </a:r>
            <a:endParaRPr lang="en-GB" sz="2800" dirty="0">
              <a:effectLst/>
            </a:endParaRPr>
          </a:p>
          <a:p>
            <a:pPr marL="0" marR="0" lvl="0" indent="0" algn="l" rtl="0">
              <a:spcBef>
                <a:spcPts val="0"/>
              </a:spcBef>
              <a:spcAft>
                <a:spcPts val="0"/>
              </a:spcAft>
              <a:buNone/>
            </a:pPr>
            <a:endParaRPr sz="2000" b="1" dirty="0">
              <a:solidFill>
                <a:srgbClr val="0070C0"/>
              </a:solidFill>
              <a:latin typeface="Times New Roman"/>
              <a:ea typeface="Times New Roman"/>
              <a:cs typeface="Times New Roman"/>
              <a:sym typeface="Times New Roman"/>
            </a:endParaRPr>
          </a:p>
        </p:txBody>
      </p:sp>
      <p:sp>
        <p:nvSpPr>
          <p:cNvPr id="113" name="Google Shape;113;p1"/>
          <p:cNvSpPr/>
          <p:nvPr/>
        </p:nvSpPr>
        <p:spPr>
          <a:xfrm>
            <a:off x="4113800" y="5228817"/>
            <a:ext cx="3825025" cy="12926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0070C0"/>
                </a:solidFill>
                <a:latin typeface="Times New Roman"/>
                <a:ea typeface="Times New Roman"/>
                <a:cs typeface="Times New Roman"/>
                <a:sym typeface="Times New Roman"/>
              </a:rPr>
              <a:t>GUIDED BY,</a:t>
            </a:r>
            <a:endParaRPr dirty="0"/>
          </a:p>
          <a:p>
            <a:r>
              <a:rPr lang="en-IN" sz="1800" b="1" dirty="0">
                <a:solidFill>
                  <a:srgbClr val="0070C0"/>
                </a:solidFill>
                <a:effectLst/>
                <a:latin typeface="Times New Roman" panose="02020603050405020304" pitchFamily="18" charset="0"/>
              </a:rPr>
              <a:t>Ms. Priya Chaturvedi</a:t>
            </a:r>
            <a:endParaRPr lang="en-IN" sz="2800" dirty="0">
              <a:effectLst/>
            </a:endParaRPr>
          </a:p>
          <a:p>
            <a:pPr marL="0" marR="0" lvl="0" indent="0" algn="l" rtl="0">
              <a:spcBef>
                <a:spcPts val="0"/>
              </a:spcBef>
              <a:spcAft>
                <a:spcPts val="0"/>
              </a:spcAft>
              <a:buNone/>
            </a:pPr>
            <a:r>
              <a:rPr lang="en-IN" sz="2000" b="1" dirty="0">
                <a:solidFill>
                  <a:srgbClr val="0070C0"/>
                </a:solidFill>
                <a:latin typeface="Times New Roman"/>
                <a:ea typeface="Times New Roman"/>
                <a:cs typeface="Times New Roman"/>
                <a:sym typeface="Times New Roman"/>
              </a:rPr>
              <a:t> </a:t>
            </a:r>
            <a:endParaRPr dirty="0">
              <a:solidFill>
                <a:schemeClr val="dk1"/>
              </a:solidFill>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pic>
        <p:nvPicPr>
          <p:cNvPr id="114" name="Google Shape;114;p1"/>
          <p:cNvPicPr preferRelativeResize="0"/>
          <p:nvPr/>
        </p:nvPicPr>
        <p:blipFill rotWithShape="1">
          <a:blip r:embed="rId3">
            <a:alphaModFix/>
          </a:blip>
          <a:srcRect t="5944" b="11187"/>
          <a:stretch/>
        </p:blipFill>
        <p:spPr>
          <a:xfrm>
            <a:off x="10168068" y="88620"/>
            <a:ext cx="1816100" cy="1504950"/>
          </a:xfrm>
          <a:prstGeom prst="rect">
            <a:avLst/>
          </a:prstGeom>
          <a:noFill/>
          <a:ln>
            <a:noFill/>
          </a:ln>
        </p:spPr>
      </p:pic>
      <p:pic>
        <p:nvPicPr>
          <p:cNvPr id="115" name="Google Shape;115;p1"/>
          <p:cNvPicPr preferRelativeResize="0"/>
          <p:nvPr/>
        </p:nvPicPr>
        <p:blipFill rotWithShape="1">
          <a:blip r:embed="rId4">
            <a:alphaModFix/>
          </a:blip>
          <a:srcRect/>
          <a:stretch/>
        </p:blipFill>
        <p:spPr>
          <a:xfrm>
            <a:off x="285825" y="5926"/>
            <a:ext cx="1704189" cy="17213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1351506" y="518259"/>
            <a:ext cx="10047300" cy="56280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3200"/>
              <a:buFont typeface="Times New Roman"/>
              <a:buNone/>
            </a:pPr>
            <a:r>
              <a:rPr lang="en-IN" sz="2400" b="1" dirty="0">
                <a:solidFill>
                  <a:schemeClr val="dk1"/>
                </a:solidFill>
                <a:latin typeface="Times New Roman"/>
                <a:ea typeface="Times New Roman"/>
                <a:cs typeface="Times New Roman"/>
                <a:sym typeface="Times New Roman"/>
              </a:rPr>
              <a:t>Outline</a:t>
            </a:r>
            <a:endParaRPr dirty="0"/>
          </a:p>
        </p:txBody>
      </p:sp>
      <p:sp>
        <p:nvSpPr>
          <p:cNvPr id="121" name="Google Shape;121;p2"/>
          <p:cNvSpPr txBox="1">
            <a:spLocks noGrp="1"/>
          </p:cNvSpPr>
          <p:nvPr>
            <p:ph type="body" idx="1"/>
          </p:nvPr>
        </p:nvSpPr>
        <p:spPr>
          <a:xfrm>
            <a:off x="1194432" y="1757680"/>
            <a:ext cx="10047310" cy="4561840"/>
          </a:xfrm>
          <a:prstGeom prst="rect">
            <a:avLst/>
          </a:prstGeom>
          <a:noFill/>
          <a:ln>
            <a:noFill/>
          </a:ln>
        </p:spPr>
        <p:txBody>
          <a:bodyPr spcFirstLastPara="1" wrap="square" lIns="0" tIns="45700" rIns="0" bIns="45700" anchor="t" anchorCtr="0">
            <a:noAutofit/>
          </a:bodyPr>
          <a:lstStyle/>
          <a:p>
            <a:pPr marL="457200" lvl="0" indent="-457200" algn="just" rtl="0">
              <a:lnSpc>
                <a:spcPct val="100000"/>
              </a:lnSpc>
              <a:spcBef>
                <a:spcPts val="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ABSTRACT </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PROBLEMS IN EXISTING SYSTEM</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PURPOSE OF THE PROJECT</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FUNCTION REQUIREMENTS</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SYSTEM MODULES </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SYSTEM REQUIREMENTS 	</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FRONT END AND BACK END OF SYSTEM</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DATA DICTIONARY </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SNAPSHOT OF WEBSITE</a:t>
            </a:r>
            <a:endParaRPr sz="1800" dirty="0">
              <a:latin typeface="Times New Roman" panose="02020603050405020304" pitchFamily="18" charset="0"/>
              <a:cs typeface="Times New Roman" panose="02020603050405020304" pitchFamily="18" charset="0"/>
            </a:endParaRPr>
          </a:p>
          <a:p>
            <a:pPr marL="457200" lvl="0" indent="-457200" algn="just" rtl="0">
              <a:lnSpc>
                <a:spcPct val="100000"/>
              </a:lnSpc>
              <a:spcBef>
                <a:spcPts val="1400"/>
              </a:spcBef>
              <a:spcAft>
                <a:spcPts val="0"/>
              </a:spcAft>
              <a:buSzPts val="1800"/>
              <a:buFont typeface="Calibri"/>
              <a:buAutoNum type="arabicPeriod"/>
            </a:pP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FUTURE ENHANCEMENT </a:t>
            </a: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xfrm>
            <a:off x="1196789" y="611231"/>
            <a:ext cx="10031505" cy="562712"/>
          </a:xfrm>
          <a:prstGeom prst="rect">
            <a:avLst/>
          </a:prstGeom>
          <a:noFill/>
          <a:ln>
            <a:noFill/>
          </a:ln>
        </p:spPr>
        <p:txBody>
          <a:bodyPr spcFirstLastPara="1" wrap="square" lIns="91425" tIns="45700" rIns="91425" bIns="45700" anchor="b" anchorCtr="0">
            <a:noAutofit/>
          </a:bodyPr>
          <a:lstStyle/>
          <a:p>
            <a:pPr marL="457200" lvl="0" indent="-457200" algn="ctr" rtl="0">
              <a:lnSpc>
                <a:spcPct val="100000"/>
              </a:lnSpc>
              <a:spcBef>
                <a:spcPts val="0"/>
              </a:spcBef>
              <a:spcAft>
                <a:spcPts val="0"/>
              </a:spcAft>
              <a:buClr>
                <a:schemeClr val="dk1"/>
              </a:buClr>
              <a:buSzPts val="2800"/>
              <a:buFont typeface="Calibri"/>
              <a:buAutoNum type="arabicPeriod"/>
            </a:pPr>
            <a:r>
              <a:rPr lang="en-IN" sz="2400" b="1" dirty="0">
                <a:solidFill>
                  <a:schemeClr val="dk1"/>
                </a:solidFill>
                <a:latin typeface="Times New Roman"/>
                <a:ea typeface="Times New Roman"/>
                <a:cs typeface="Times New Roman"/>
                <a:sym typeface="Times New Roman"/>
              </a:rPr>
              <a:t>ABSTRACT </a:t>
            </a:r>
            <a:endParaRPr sz="2400" dirty="0"/>
          </a:p>
        </p:txBody>
      </p:sp>
      <p:sp>
        <p:nvSpPr>
          <p:cNvPr id="127" name="Google Shape;127;p3"/>
          <p:cNvSpPr txBox="1">
            <a:spLocks noGrp="1"/>
          </p:cNvSpPr>
          <p:nvPr>
            <p:ph type="body" idx="1"/>
          </p:nvPr>
        </p:nvSpPr>
        <p:spPr>
          <a:xfrm>
            <a:off x="1196788" y="1887794"/>
            <a:ext cx="10031505" cy="4405430"/>
          </a:xfrm>
          <a:prstGeom prst="rect">
            <a:avLst/>
          </a:prstGeom>
          <a:noFill/>
          <a:ln>
            <a:noFill/>
          </a:ln>
        </p:spPr>
        <p:txBody>
          <a:bodyPr spcFirstLastPara="1" wrap="square" lIns="0" tIns="45700" rIns="0" bIns="45700" anchor="t" anchorCtr="0">
            <a:noAutofit/>
          </a:bodyPr>
          <a:lstStyle/>
          <a:p>
            <a:pPr marL="342900" lvl="0" algn="just" rtl="0">
              <a:lnSpc>
                <a:spcPct val="150000"/>
              </a:lnSpc>
              <a:spcBef>
                <a:spcPts val="1200"/>
              </a:spcBef>
              <a:spcAft>
                <a:spcPts val="0"/>
              </a:spcAft>
              <a:buClr>
                <a:schemeClr val="dk1"/>
              </a:buClr>
              <a:buSzPts val="2000"/>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University Chatbot is an AI-powered assistant built using Google Gemini Pro, </a:t>
            </a:r>
            <a:r>
              <a:rPr lang="en-GB" dirty="0" err="1">
                <a:latin typeface="Times New Roman" panose="02020603050405020304" pitchFamily="18" charset="0"/>
                <a:cs typeface="Times New Roman" panose="02020603050405020304" pitchFamily="18" charset="0"/>
              </a:rPr>
              <a:t>Streamlit</a:t>
            </a:r>
            <a:r>
              <a:rPr lang="en-GB" dirty="0">
                <a:latin typeface="Times New Roman" panose="02020603050405020304" pitchFamily="18" charset="0"/>
                <a:cs typeface="Times New Roman" panose="02020603050405020304" pitchFamily="18" charset="0"/>
              </a:rPr>
              <a:t>, and Python. It provides instant responses to university-related queries such as courses, admissions, deadlines, and more. Integrated with MongoDB and SQLite for data storage, the system aims to improve communication and support between students and institutions through natural language interaction.</a:t>
            </a:r>
            <a:endParaRPr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1097281" y="720968"/>
            <a:ext cx="10058400" cy="563059"/>
          </a:xfrm>
          <a:noFill/>
          <a:ln>
            <a:noFill/>
          </a:ln>
        </p:spPr>
        <p:txBody>
          <a:bodyPr spcFirstLastPara="1" wrap="square" lIns="91425" tIns="45700" rIns="91425" bIns="45700" anchor="b" anchorCtr="0">
            <a:noAutofit/>
          </a:bodyPr>
          <a:lstStyle/>
          <a:p>
            <a:pPr lvl="0" algn="ctr"/>
            <a:r>
              <a:rPr lang="en-IN" sz="2400" b="1" dirty="0">
                <a:latin typeface="Times New Roman" panose="02020603050405020304" pitchFamily="18" charset="0"/>
                <a:cs typeface="Times New Roman" panose="02020603050405020304" pitchFamily="18" charset="0"/>
                <a:sym typeface="Times New Roman"/>
              </a:rPr>
              <a:t>2. PROBLEMS IN EXISTING SYSTEM</a:t>
            </a:r>
            <a:endParaRPr lang="en-IN" sz="2400" b="1" dirty="0">
              <a:latin typeface="Times New Roman" panose="02020603050405020304" pitchFamily="18" charset="0"/>
              <a:cs typeface="Times New Roman" panose="02020603050405020304" pitchFamily="18" charset="0"/>
            </a:endParaRPr>
          </a:p>
        </p:txBody>
      </p:sp>
      <p:sp>
        <p:nvSpPr>
          <p:cNvPr id="133" name="Google Shape;133;p4"/>
          <p:cNvSpPr txBox="1">
            <a:spLocks noGrp="1"/>
          </p:cNvSpPr>
          <p:nvPr>
            <p:ph type="body" idx="1"/>
          </p:nvPr>
        </p:nvSpPr>
        <p:spPr>
          <a:xfrm rot="10800000">
            <a:off x="4251960" y="5120640"/>
            <a:ext cx="8567928" cy="3628813"/>
          </a:xfrm>
          <a:noFill/>
          <a:ln>
            <a:noFill/>
          </a:ln>
        </p:spPr>
        <p:txBody>
          <a:bodyPr spcFirstLastPara="1" wrap="square" lIns="0" tIns="45700" rIns="0" bIns="45700" anchor="t" anchorCtr="0">
            <a:noAutofit/>
          </a:bodyPr>
          <a:lstStyle/>
          <a:p>
            <a:pPr lvl="0"/>
            <a:endParaRPr lang="en-IN" dirty="0"/>
          </a:p>
          <a:p>
            <a:pPr lvl="0"/>
            <a:endParaRPr lang="en-IN" dirty="0">
              <a:sym typeface="Times New Roman"/>
            </a:endParaRPr>
          </a:p>
        </p:txBody>
      </p:sp>
      <p:sp>
        <p:nvSpPr>
          <p:cNvPr id="10" name="Rectangle 3">
            <a:extLst>
              <a:ext uri="{FF2B5EF4-FFF2-40B4-BE49-F238E27FC236}">
                <a16:creationId xmlns:a16="http://schemas.microsoft.com/office/drawing/2014/main" id="{225660E0-BE9D-CEF3-8668-DB4A055E31F7}"/>
              </a:ext>
            </a:extLst>
          </p:cNvPr>
          <p:cNvSpPr>
            <a:spLocks noChangeArrowheads="1"/>
          </p:cNvSpPr>
          <p:nvPr/>
        </p:nvSpPr>
        <p:spPr bwMode="auto">
          <a:xfrm rot="10800000" flipV="1">
            <a:off x="1097281" y="1849605"/>
            <a:ext cx="10058399" cy="1883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often face delays in receiving academic information.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query resolution requires staff time and effort.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centralized digital assistant is available for quick support.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 to support outside working hours.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1183341" y="624110"/>
            <a:ext cx="10192871"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3. PURPOSE OF THE PROJECT</a:t>
            </a:r>
            <a:endParaRPr sz="2400" dirty="0"/>
          </a:p>
        </p:txBody>
      </p:sp>
      <p:sp>
        <p:nvSpPr>
          <p:cNvPr id="2" name="Text Placeholder 1">
            <a:extLst>
              <a:ext uri="{FF2B5EF4-FFF2-40B4-BE49-F238E27FC236}">
                <a16:creationId xmlns:a16="http://schemas.microsoft.com/office/drawing/2014/main" id="{83368BF9-6B62-767E-5608-321FF4B6BEDF}"/>
              </a:ext>
            </a:extLst>
          </p:cNvPr>
          <p:cNvSpPr>
            <a:spLocks noGrp="1" noChangeArrowheads="1"/>
          </p:cNvSpPr>
          <p:nvPr>
            <p:ph type="body" idx="1"/>
          </p:nvPr>
        </p:nvSpPr>
        <p:spPr bwMode="auto">
          <a:xfrm>
            <a:off x="1183341" y="1852833"/>
            <a:ext cx="996319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chatbot that simulates a university helpdesk.</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workload on administrative staff.</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24/7 support using natural language processing.</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deliver smart, session-based responses using Gemini API.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1210237" y="624110"/>
            <a:ext cx="9950823" cy="5627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4. FUNCTION REQUIREMENTS</a:t>
            </a:r>
            <a:endParaRPr sz="4400" dirty="0"/>
          </a:p>
        </p:txBody>
      </p:sp>
      <p:sp>
        <p:nvSpPr>
          <p:cNvPr id="145" name="Google Shape;145;p6"/>
          <p:cNvSpPr txBox="1">
            <a:spLocks noGrp="1"/>
          </p:cNvSpPr>
          <p:nvPr>
            <p:ph type="body" idx="1"/>
          </p:nvPr>
        </p:nvSpPr>
        <p:spPr>
          <a:xfrm>
            <a:off x="1210236" y="1724067"/>
            <a:ext cx="9950824" cy="3269188"/>
          </a:xfrm>
          <a:prstGeom prst="rect">
            <a:avLst/>
          </a:prstGeom>
          <a:noFill/>
          <a:ln>
            <a:noFill/>
          </a:ln>
        </p:spPr>
        <p:txBody>
          <a:bodyPr spcFirstLastPara="1" wrap="square" lIns="0" tIns="45700" rIns="0" bIns="45700" anchor="t" anchorCtr="0">
            <a:noAutofit/>
          </a:bodyPr>
          <a:lstStyle/>
          <a:p>
            <a:pPr>
              <a:lnSpc>
                <a:spcPct val="150000"/>
              </a:lnSpc>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User login/signup functionality.</a:t>
            </a:r>
          </a:p>
          <a:p>
            <a:pPr>
              <a:lnSpc>
                <a:spcPct val="150000"/>
              </a:lnSpc>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Real-time chatbot interaction.</a:t>
            </a:r>
          </a:p>
          <a:p>
            <a:pPr>
              <a:lnSpc>
                <a:spcPct val="150000"/>
              </a:lnSpc>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Session management and chat history.</a:t>
            </a:r>
          </a:p>
          <a:p>
            <a:pPr>
              <a:lnSpc>
                <a:spcPct val="150000"/>
              </a:lnSpc>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Integration with Gemini Pro for responses.</a:t>
            </a:r>
          </a:p>
          <a:p>
            <a:pPr>
              <a:lnSpc>
                <a:spcPct val="150000"/>
              </a:lnSpc>
              <a:buFont typeface="Wingdings" panose="05000000000000000000" pitchFamily="2" charset="2"/>
              <a:buChar char="Ø"/>
            </a:pPr>
            <a:r>
              <a:rPr lang="en-GB" dirty="0">
                <a:solidFill>
                  <a:schemeClr val="tx1"/>
                </a:solidFill>
                <a:latin typeface="Times New Roman" panose="02020603050405020304" pitchFamily="18" charset="0"/>
                <a:cs typeface="Times New Roman" panose="02020603050405020304" pitchFamily="18" charset="0"/>
              </a:rPr>
              <a:t>Data storage in MongoDB and SQLite.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5. SYSTEM MODULES </a:t>
            </a:r>
            <a:endParaRPr sz="4400" dirty="0"/>
          </a:p>
        </p:txBody>
      </p:sp>
      <p:sp>
        <p:nvSpPr>
          <p:cNvPr id="2" name="Text Placeholder 1">
            <a:extLst>
              <a:ext uri="{FF2B5EF4-FFF2-40B4-BE49-F238E27FC236}">
                <a16:creationId xmlns:a16="http://schemas.microsoft.com/office/drawing/2014/main" id="{FA8AB33B-BB01-9955-C8C6-23A52B629F91}"/>
              </a:ext>
            </a:extLst>
          </p:cNvPr>
          <p:cNvSpPr>
            <a:spLocks noGrp="1" noChangeArrowheads="1"/>
          </p:cNvSpPr>
          <p:nvPr>
            <p:ph type="body" idx="1"/>
          </p:nvPr>
        </p:nvSpPr>
        <p:spPr bwMode="auto">
          <a:xfrm>
            <a:off x="1196789" y="1762678"/>
            <a:ext cx="6122189"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Login &amp; Signup</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 Interface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input &amp; bot reply</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Handler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Maintains conversation context</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Layer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MongoDB (cloud) &amp; SQLite (local)</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Gemini Integration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generating intelligent replies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8"/>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6. SYSTEM REQUIREMENTS</a:t>
            </a:r>
            <a:endParaRPr sz="2400" b="1" dirty="0">
              <a:solidFill>
                <a:schemeClr val="dk1"/>
              </a:solidFill>
              <a:latin typeface="Times New Roman"/>
              <a:ea typeface="Times New Roman"/>
              <a:cs typeface="Times New Roman"/>
              <a:sym typeface="Times New Roman"/>
            </a:endParaRPr>
          </a:p>
        </p:txBody>
      </p:sp>
      <p:sp>
        <p:nvSpPr>
          <p:cNvPr id="2" name="Text Placeholder 1">
            <a:extLst>
              <a:ext uri="{FF2B5EF4-FFF2-40B4-BE49-F238E27FC236}">
                <a16:creationId xmlns:a16="http://schemas.microsoft.com/office/drawing/2014/main" id="{53F5F3A6-DA7C-2F77-CFAD-241826F31ED1}"/>
              </a:ext>
            </a:extLst>
          </p:cNvPr>
          <p:cNvSpPr>
            <a:spLocks noGrp="1" noChangeArrowheads="1"/>
          </p:cNvSpPr>
          <p:nvPr>
            <p:ph type="body" idx="1"/>
          </p:nvPr>
        </p:nvSpPr>
        <p:spPr bwMode="auto">
          <a:xfrm>
            <a:off x="1196789" y="1709575"/>
            <a:ext cx="47468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Minimum 4GB RAM, i3 Processor or above</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3.x</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Atlas, SQLite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Browser (Chrome/Edge)</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Gemini Pro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7. FRONT END AND BACK END OF SYSTEM </a:t>
            </a:r>
            <a:endParaRPr sz="2400" dirty="0">
              <a:solidFill>
                <a:schemeClr val="dk1"/>
              </a:solidFill>
              <a:latin typeface="Times New Roman"/>
              <a:ea typeface="Times New Roman"/>
              <a:cs typeface="Times New Roman"/>
              <a:sym typeface="Times New Roman"/>
            </a:endParaRPr>
          </a:p>
        </p:txBody>
      </p:sp>
      <p:sp>
        <p:nvSpPr>
          <p:cNvPr id="2" name="Text Placeholder 1">
            <a:extLst>
              <a:ext uri="{FF2B5EF4-FFF2-40B4-BE49-F238E27FC236}">
                <a16:creationId xmlns:a16="http://schemas.microsoft.com/office/drawing/2014/main" id="{877B41A6-98D6-E24C-C093-4CCE70172CBE}"/>
              </a:ext>
            </a:extLst>
          </p:cNvPr>
          <p:cNvSpPr>
            <a:spLocks noGrp="1" noChangeArrowheads="1"/>
          </p:cNvSpPr>
          <p:nvPr>
            <p:ph type="body" idx="1"/>
          </p:nvPr>
        </p:nvSpPr>
        <p:spPr bwMode="auto">
          <a:xfrm>
            <a:off x="1196789" y="1738550"/>
            <a:ext cx="4318811"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 End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in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 UI with chat interface</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 End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for logic handling</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Gemini Pro for AI-based responses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MongoDB/SQLite for data management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a:spLocks noGrp="1"/>
          </p:cNvSpPr>
          <p:nvPr>
            <p:ph type="title"/>
          </p:nvPr>
        </p:nvSpPr>
        <p:spPr>
          <a:xfrm>
            <a:off x="1024564" y="624110"/>
            <a:ext cx="9977700" cy="562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400" b="1" dirty="0">
                <a:solidFill>
                  <a:schemeClr val="dk1"/>
                </a:solidFill>
                <a:latin typeface="Times New Roman"/>
                <a:ea typeface="Times New Roman"/>
                <a:cs typeface="Times New Roman"/>
                <a:sym typeface="Times New Roman"/>
              </a:rPr>
              <a:t>8. DATA DICTIONARY </a:t>
            </a:r>
            <a:endParaRPr sz="2400" dirty="0">
              <a:solidFill>
                <a:schemeClr val="dk1"/>
              </a:solidFill>
              <a:latin typeface="Times New Roman"/>
              <a:ea typeface="Times New Roman"/>
              <a:cs typeface="Times New Roman"/>
              <a:sym typeface="Times New Roman"/>
            </a:endParaRPr>
          </a:p>
        </p:txBody>
      </p:sp>
      <p:graphicFrame>
        <p:nvGraphicFramePr>
          <p:cNvPr id="9" name="Table 8">
            <a:extLst>
              <a:ext uri="{FF2B5EF4-FFF2-40B4-BE49-F238E27FC236}">
                <a16:creationId xmlns:a16="http://schemas.microsoft.com/office/drawing/2014/main" id="{677D881C-B770-8E0A-6675-DB0C6C2A2123}"/>
              </a:ext>
            </a:extLst>
          </p:cNvPr>
          <p:cNvGraphicFramePr>
            <a:graphicFrameLocks noGrp="1"/>
          </p:cNvGraphicFramePr>
          <p:nvPr>
            <p:extLst>
              <p:ext uri="{D42A27DB-BD31-4B8C-83A1-F6EECF244321}">
                <p14:modId xmlns:p14="http://schemas.microsoft.com/office/powerpoint/2010/main" val="957352109"/>
              </p:ext>
            </p:extLst>
          </p:nvPr>
        </p:nvGraphicFramePr>
        <p:xfrm>
          <a:off x="1088099" y="1837794"/>
          <a:ext cx="10161123" cy="2773680"/>
        </p:xfrm>
        <a:graphic>
          <a:graphicData uri="http://schemas.openxmlformats.org/drawingml/2006/table">
            <a:tbl>
              <a:tblPr/>
              <a:tblGrid>
                <a:gridCol w="3387041">
                  <a:extLst>
                    <a:ext uri="{9D8B030D-6E8A-4147-A177-3AD203B41FA5}">
                      <a16:colId xmlns:a16="http://schemas.microsoft.com/office/drawing/2014/main" val="566295497"/>
                    </a:ext>
                  </a:extLst>
                </a:gridCol>
                <a:gridCol w="3387041">
                  <a:extLst>
                    <a:ext uri="{9D8B030D-6E8A-4147-A177-3AD203B41FA5}">
                      <a16:colId xmlns:a16="http://schemas.microsoft.com/office/drawing/2014/main" val="1340659330"/>
                    </a:ext>
                  </a:extLst>
                </a:gridCol>
                <a:gridCol w="3387041">
                  <a:extLst>
                    <a:ext uri="{9D8B030D-6E8A-4147-A177-3AD203B41FA5}">
                      <a16:colId xmlns:a16="http://schemas.microsoft.com/office/drawing/2014/main" val="4058062283"/>
                    </a:ext>
                  </a:extLst>
                </a:gridCol>
              </a:tblGrid>
              <a:tr h="145254">
                <a:tc>
                  <a:txBody>
                    <a:bodyPr/>
                    <a:lstStyle/>
                    <a:p>
                      <a:r>
                        <a:rPr lang="en-IN" sz="2000" b="1">
                          <a:latin typeface="Times New Roman" panose="02020603050405020304" pitchFamily="18" charset="0"/>
                          <a:cs typeface="Times New Roman" panose="02020603050405020304" pitchFamily="18" charset="0"/>
                        </a:rPr>
                        <a:t>Field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b="1">
                          <a:latin typeface="Times New Roman" panose="02020603050405020304" pitchFamily="18" charset="0"/>
                          <a:cs typeface="Times New Roman" panose="02020603050405020304" pitchFamily="18"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b="1" dirty="0">
                          <a:latin typeface="Times New Roman" panose="02020603050405020304" pitchFamily="18" charset="0"/>
                          <a:cs typeface="Times New Roman" panose="02020603050405020304" pitchFamily="18"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199467"/>
                  </a:ext>
                </a:extLst>
              </a:tr>
              <a:tr h="0">
                <a:tc>
                  <a:txBody>
                    <a:bodyPr/>
                    <a:lstStyle/>
                    <a:p>
                      <a:r>
                        <a:rPr lang="en-IN" sz="2000">
                          <a:latin typeface="Times New Roman" panose="02020603050405020304" pitchFamily="18" charset="0"/>
                          <a:cs typeface="Times New Roman" panose="02020603050405020304" pitchFamily="18" charset="0"/>
                        </a:rPr>
                        <a:t>username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Registered user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8158413"/>
                  </a:ext>
                </a:extLst>
              </a:tr>
              <a:tr h="145254">
                <a:tc>
                  <a:txBody>
                    <a:bodyPr/>
                    <a:lstStyle/>
                    <a:p>
                      <a:r>
                        <a:rPr lang="en-IN" sz="2000">
                          <a:latin typeface="Times New Roman" panose="02020603050405020304" pitchFamily="18" charset="0"/>
                          <a:cs typeface="Times New Roman" panose="02020603050405020304" pitchFamily="18" charset="0"/>
                        </a:rPr>
                        <a:t>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User email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125076"/>
                  </a:ext>
                </a:extLst>
              </a:tr>
              <a:tr h="145254">
                <a:tc>
                  <a:txBody>
                    <a:bodyPr/>
                    <a:lstStyle/>
                    <a:p>
                      <a:r>
                        <a:rPr lang="en-IN" sz="2000">
                          <a:latin typeface="Times New Roman" panose="02020603050405020304" pitchFamily="18" charset="0"/>
                          <a:cs typeface="Times New Roman" panose="02020603050405020304" pitchFamily="18" charset="0"/>
                        </a:rPr>
                        <a:t>message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User's 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5836035"/>
                  </a:ext>
                </a:extLst>
              </a:tr>
              <a:tr h="145254">
                <a:tc>
                  <a:txBody>
                    <a:bodyPr/>
                    <a:lstStyle/>
                    <a:p>
                      <a:r>
                        <a:rPr lang="en-IN" sz="2000">
                          <a:latin typeface="Times New Roman" panose="02020603050405020304" pitchFamily="18" charset="0"/>
                          <a:cs typeface="Times New Roman" panose="02020603050405020304" pitchFamily="18" charset="0"/>
                        </a:rPr>
                        <a:t>reply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Chatbot's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9012"/>
                  </a:ext>
                </a:extLst>
              </a:tr>
              <a:tr h="145254">
                <a:tc>
                  <a:txBody>
                    <a:bodyPr/>
                    <a:lstStyle/>
                    <a:p>
                      <a:r>
                        <a:rPr lang="en-IN" sz="2000">
                          <a:latin typeface="Times New Roman" panose="02020603050405020304" pitchFamily="18" charset="0"/>
                          <a:cs typeface="Times New Roman" panose="02020603050405020304" pitchFamily="18" charset="0"/>
                        </a:rPr>
                        <a:t>timestamp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Chat time and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DateTime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7047020"/>
                  </a:ext>
                </a:extLst>
              </a:tr>
              <a:tr h="145254">
                <a:tc>
                  <a:txBody>
                    <a:bodyPr/>
                    <a:lstStyle/>
                    <a:p>
                      <a:r>
                        <a:rPr lang="en-IN" sz="2000">
                          <a:latin typeface="Times New Roman" panose="02020603050405020304" pitchFamily="18" charset="0"/>
                          <a:cs typeface="Times New Roman" panose="02020603050405020304" pitchFamily="18" charset="0"/>
                        </a:rPr>
                        <a:t>session_id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latin typeface="Times New Roman" panose="02020603050405020304" pitchFamily="18" charset="0"/>
                          <a:cs typeface="Times New Roman" panose="02020603050405020304" pitchFamily="18" charset="0"/>
                        </a:rPr>
                        <a:t>Unique session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4176128"/>
                  </a:ext>
                </a:extLst>
              </a:tr>
            </a:tbl>
          </a:graphicData>
        </a:graphic>
      </p:graphicFrame>
      <p:sp>
        <p:nvSpPr>
          <p:cNvPr id="10" name="Rectangle 1">
            <a:extLst>
              <a:ext uri="{FF2B5EF4-FFF2-40B4-BE49-F238E27FC236}">
                <a16:creationId xmlns:a16="http://schemas.microsoft.com/office/drawing/2014/main" id="{47B800BE-E345-4846-79D7-6AF3B7E10560}"/>
              </a:ext>
            </a:extLst>
          </p:cNvPr>
          <p:cNvSpPr>
            <a:spLocks noGrp="1" noChangeArrowheads="1"/>
          </p:cNvSpPr>
          <p:nvPr>
            <p:ph type="body" idx="1"/>
          </p:nvPr>
        </p:nvSpPr>
        <p:spPr bwMode="auto">
          <a:xfrm>
            <a:off x="1024564" y="2513574"/>
            <a:ext cx="1007933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1"/>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800" b="1">
                <a:solidFill>
                  <a:schemeClr val="dk1"/>
                </a:solidFill>
                <a:latin typeface="Times New Roman"/>
                <a:ea typeface="Times New Roman"/>
                <a:cs typeface="Times New Roman"/>
                <a:sym typeface="Times New Roman"/>
              </a:rPr>
              <a:t>9. SNAPSHOT OF WEBSITE</a:t>
            </a:r>
            <a:endParaRPr sz="2800">
              <a:solidFill>
                <a:schemeClr val="dk1"/>
              </a:solidFill>
              <a:latin typeface="Times New Roman"/>
              <a:ea typeface="Times New Roman"/>
              <a:cs typeface="Times New Roman"/>
              <a:sym typeface="Times New Roman"/>
            </a:endParaRPr>
          </a:p>
        </p:txBody>
      </p:sp>
      <p:pic>
        <p:nvPicPr>
          <p:cNvPr id="7" name="Picture 6" descr="A screenshot of a computer&#10;&#10;AI-generated content may be incorrect.">
            <a:extLst>
              <a:ext uri="{FF2B5EF4-FFF2-40B4-BE49-F238E27FC236}">
                <a16:creationId xmlns:a16="http://schemas.microsoft.com/office/drawing/2014/main" id="{0CB32333-4FB6-54DC-412D-2FC7E943E82F}"/>
              </a:ext>
            </a:extLst>
          </p:cNvPr>
          <p:cNvPicPr>
            <a:picLocks noChangeAspect="1"/>
          </p:cNvPicPr>
          <p:nvPr/>
        </p:nvPicPr>
        <p:blipFill>
          <a:blip r:embed="rId3"/>
          <a:stretch>
            <a:fillRect/>
          </a:stretch>
        </p:blipFill>
        <p:spPr>
          <a:xfrm>
            <a:off x="2749549" y="1885300"/>
            <a:ext cx="6692901" cy="3764757"/>
          </a:xfrm>
          <a:prstGeom prst="rect">
            <a:avLst/>
          </a:prstGeom>
        </p:spPr>
      </p:pic>
      <p:sp>
        <p:nvSpPr>
          <p:cNvPr id="8" name="TextBox 7">
            <a:extLst>
              <a:ext uri="{FF2B5EF4-FFF2-40B4-BE49-F238E27FC236}">
                <a16:creationId xmlns:a16="http://schemas.microsoft.com/office/drawing/2014/main" id="{5C406918-03D5-1D7A-F44C-10C394F8768E}"/>
              </a:ext>
            </a:extLst>
          </p:cNvPr>
          <p:cNvSpPr txBox="1"/>
          <p:nvPr/>
        </p:nvSpPr>
        <p:spPr>
          <a:xfrm>
            <a:off x="2749549" y="5650057"/>
            <a:ext cx="6692901"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Login/Sign Up page</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767B0E-210B-0C5F-5632-7BC0B9C4FABA}"/>
              </a:ext>
            </a:extLst>
          </p:cNvPr>
          <p:cNvPicPr>
            <a:picLocks noChangeAspect="1"/>
          </p:cNvPicPr>
          <p:nvPr/>
        </p:nvPicPr>
        <p:blipFill>
          <a:blip r:embed="rId2"/>
          <a:stretch>
            <a:fillRect/>
          </a:stretch>
        </p:blipFill>
        <p:spPr>
          <a:xfrm>
            <a:off x="1230923" y="132433"/>
            <a:ext cx="9082454" cy="5108881"/>
          </a:xfrm>
          <a:prstGeom prst="rect">
            <a:avLst/>
          </a:prstGeom>
        </p:spPr>
      </p:pic>
      <p:sp>
        <p:nvSpPr>
          <p:cNvPr id="4" name="TextBox 3">
            <a:extLst>
              <a:ext uri="{FF2B5EF4-FFF2-40B4-BE49-F238E27FC236}">
                <a16:creationId xmlns:a16="http://schemas.microsoft.com/office/drawing/2014/main" id="{079086CD-DAD8-216F-444F-B1B043451415}"/>
              </a:ext>
            </a:extLst>
          </p:cNvPr>
          <p:cNvSpPr txBox="1"/>
          <p:nvPr/>
        </p:nvSpPr>
        <p:spPr>
          <a:xfrm>
            <a:off x="1230923" y="5336931"/>
            <a:ext cx="9091246"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Home Page Of chatbot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76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86FF50-C224-A06A-0E10-D4F9BA84179A}"/>
              </a:ext>
            </a:extLst>
          </p:cNvPr>
          <p:cNvPicPr>
            <a:picLocks noChangeAspect="1"/>
          </p:cNvPicPr>
          <p:nvPr/>
        </p:nvPicPr>
        <p:blipFill>
          <a:blip r:embed="rId2"/>
          <a:stretch>
            <a:fillRect/>
          </a:stretch>
        </p:blipFill>
        <p:spPr>
          <a:xfrm>
            <a:off x="1317381" y="213215"/>
            <a:ext cx="9557238" cy="5375946"/>
          </a:xfrm>
          <a:prstGeom prst="rect">
            <a:avLst/>
          </a:prstGeom>
        </p:spPr>
      </p:pic>
      <p:sp>
        <p:nvSpPr>
          <p:cNvPr id="4" name="TextBox 3">
            <a:extLst>
              <a:ext uri="{FF2B5EF4-FFF2-40B4-BE49-F238E27FC236}">
                <a16:creationId xmlns:a16="http://schemas.microsoft.com/office/drawing/2014/main" id="{4FA012D0-5954-5485-FBAB-8C9F0BF1C564}"/>
              </a:ext>
            </a:extLst>
          </p:cNvPr>
          <p:cNvSpPr txBox="1"/>
          <p:nvPr/>
        </p:nvSpPr>
        <p:spPr>
          <a:xfrm>
            <a:off x="1318846" y="5741377"/>
            <a:ext cx="9583616"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Example of a Question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41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94BE7B-C5F6-4A42-233F-7DD13E056ACF}"/>
              </a:ext>
            </a:extLst>
          </p:cNvPr>
          <p:cNvPicPr>
            <a:picLocks noChangeAspect="1"/>
          </p:cNvPicPr>
          <p:nvPr/>
        </p:nvPicPr>
        <p:blipFill>
          <a:blip r:embed="rId2"/>
          <a:stretch>
            <a:fillRect/>
          </a:stretch>
        </p:blipFill>
        <p:spPr>
          <a:xfrm>
            <a:off x="1525465" y="230248"/>
            <a:ext cx="9141069" cy="5141851"/>
          </a:xfrm>
          <a:prstGeom prst="rect">
            <a:avLst/>
          </a:prstGeom>
        </p:spPr>
      </p:pic>
      <p:sp>
        <p:nvSpPr>
          <p:cNvPr id="4" name="TextBox 3">
            <a:extLst>
              <a:ext uri="{FF2B5EF4-FFF2-40B4-BE49-F238E27FC236}">
                <a16:creationId xmlns:a16="http://schemas.microsoft.com/office/drawing/2014/main" id="{C5C702D7-11D6-DBA5-8945-7A8940383D64}"/>
              </a:ext>
            </a:extLst>
          </p:cNvPr>
          <p:cNvSpPr txBox="1"/>
          <p:nvPr/>
        </p:nvSpPr>
        <p:spPr>
          <a:xfrm>
            <a:off x="1512277" y="5495192"/>
            <a:ext cx="9161585"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Admin Panel – Chat Analysis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840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F74794-B6B1-6DD1-6A5B-7E8CBDC27BA8}"/>
              </a:ext>
            </a:extLst>
          </p:cNvPr>
          <p:cNvPicPr>
            <a:picLocks noChangeAspect="1"/>
          </p:cNvPicPr>
          <p:nvPr/>
        </p:nvPicPr>
        <p:blipFill>
          <a:blip r:embed="rId2"/>
          <a:stretch>
            <a:fillRect/>
          </a:stretch>
        </p:blipFill>
        <p:spPr>
          <a:xfrm>
            <a:off x="1470513" y="176946"/>
            <a:ext cx="9250974" cy="5203672"/>
          </a:xfrm>
          <a:prstGeom prst="rect">
            <a:avLst/>
          </a:prstGeom>
        </p:spPr>
      </p:pic>
      <p:sp>
        <p:nvSpPr>
          <p:cNvPr id="4" name="TextBox 3">
            <a:extLst>
              <a:ext uri="{FF2B5EF4-FFF2-40B4-BE49-F238E27FC236}">
                <a16:creationId xmlns:a16="http://schemas.microsoft.com/office/drawing/2014/main" id="{63E5C972-EF2B-118F-3F29-5A2CEC9B7ABA}"/>
              </a:ext>
            </a:extLst>
          </p:cNvPr>
          <p:cNvSpPr txBox="1"/>
          <p:nvPr/>
        </p:nvSpPr>
        <p:spPr>
          <a:xfrm>
            <a:off x="1477108" y="5521569"/>
            <a:ext cx="9284677"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How To Run A Server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6801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2"/>
          <p:cNvSpPr txBox="1">
            <a:spLocks noGrp="1"/>
          </p:cNvSpPr>
          <p:nvPr>
            <p:ph type="title"/>
          </p:nvPr>
        </p:nvSpPr>
        <p:spPr>
          <a:xfrm>
            <a:off x="1196789" y="624110"/>
            <a:ext cx="9977700" cy="562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2800"/>
              <a:buFont typeface="Times New Roman"/>
              <a:buNone/>
            </a:pPr>
            <a:r>
              <a:rPr lang="en-IN" sz="2800" b="1">
                <a:solidFill>
                  <a:schemeClr val="dk1"/>
                </a:solidFill>
                <a:latin typeface="Times New Roman"/>
                <a:ea typeface="Times New Roman"/>
                <a:cs typeface="Times New Roman"/>
                <a:sym typeface="Times New Roman"/>
              </a:rPr>
              <a:t>10. FUTURE ENHANCEMENT</a:t>
            </a:r>
            <a:endParaRPr sz="2800">
              <a:solidFill>
                <a:schemeClr val="dk1"/>
              </a:solidFill>
              <a:latin typeface="Times New Roman"/>
              <a:ea typeface="Times New Roman"/>
              <a:cs typeface="Times New Roman"/>
              <a:sym typeface="Times New Roman"/>
            </a:endParaRPr>
          </a:p>
        </p:txBody>
      </p:sp>
      <p:sp>
        <p:nvSpPr>
          <p:cNvPr id="2" name="Text Placeholder 1">
            <a:extLst>
              <a:ext uri="{FF2B5EF4-FFF2-40B4-BE49-F238E27FC236}">
                <a16:creationId xmlns:a16="http://schemas.microsoft.com/office/drawing/2014/main" id="{16CFBF4A-6D25-55F9-E07E-2EDEDDC6A2E0}"/>
              </a:ext>
            </a:extLst>
          </p:cNvPr>
          <p:cNvSpPr>
            <a:spLocks noGrp="1" noChangeArrowheads="1"/>
          </p:cNvSpPr>
          <p:nvPr>
            <p:ph type="body" idx="1"/>
          </p:nvPr>
        </p:nvSpPr>
        <p:spPr bwMode="auto">
          <a:xfrm>
            <a:off x="1196789" y="1771470"/>
            <a:ext cx="6207148"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voice-based chat capabilities</a:t>
            </a: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 multilingual support</a:t>
            </a: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an admin analytics dashboard</a:t>
            </a: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with live university data (e.g., timetable, fees)</a:t>
            </a:r>
          </a:p>
          <a:p>
            <a:pPr marL="342900"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with advanced user authentication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13" descr="Say thank you to someone at Companies House - GOV.UK"/>
          <p:cNvPicPr preferRelativeResize="0"/>
          <p:nvPr/>
        </p:nvPicPr>
        <p:blipFill rotWithShape="1">
          <a:blip r:embed="rId3">
            <a:alphaModFix/>
          </a:blip>
          <a:srcRect/>
          <a:stretch/>
        </p:blipFill>
        <p:spPr>
          <a:xfrm>
            <a:off x="3557680" y="2247495"/>
            <a:ext cx="5115672" cy="341044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Retrospect">
  <a:themeElements>
    <a:clrScheme name="Retrospect">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499</Words>
  <Application>Microsoft Office PowerPoint</Application>
  <PresentationFormat>Widescreen</PresentationFormat>
  <Paragraphs>107</Paragraphs>
  <Slides>17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Retrospect</vt:lpstr>
      <vt:lpstr>PowerPoint Presentation</vt:lpstr>
      <vt:lpstr>Outline</vt:lpstr>
      <vt:lpstr>ABSTRACT </vt:lpstr>
      <vt:lpstr>2. PROBLEMS IN EXISTING SYSTEM</vt:lpstr>
      <vt:lpstr>3. PURPOSE OF THE PROJECT</vt:lpstr>
      <vt:lpstr>4. FUNCTION REQUIREMENTS</vt:lpstr>
      <vt:lpstr>5. SYSTEM MODULES </vt:lpstr>
      <vt:lpstr>6. SYSTEM REQUIREMENTS</vt:lpstr>
      <vt:lpstr>7. FRONT END AND BACK END OF SYSTEM </vt:lpstr>
      <vt:lpstr>8. DATA DICTIONARY </vt:lpstr>
      <vt:lpstr>9. SNAPSHOT OF WEBSITE</vt:lpstr>
      <vt:lpstr>PowerPoint Presentation</vt:lpstr>
      <vt:lpstr>PowerPoint Presentation</vt:lpstr>
      <vt:lpstr>PowerPoint Presentation</vt:lpstr>
      <vt:lpstr>PowerPoint Presentation</vt:lpstr>
      <vt:lpstr>10. FUTURE ENHANCEMENT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Gopesh Rabadiya</cp:lastModifiedBy>
  <cp:revision>27</cp:revision>
  <dcterms:created xsi:type="dcterms:W3CDTF">2021-06-09T16:25:43Z</dcterms:created>
  <dcterms:modified xsi:type="dcterms:W3CDTF">2025-04-26T08:22:07Z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